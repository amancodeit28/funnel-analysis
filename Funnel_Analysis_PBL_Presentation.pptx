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A35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1E2A35"/>
                </a:solidFill>
                <a:latin typeface="Georgia"/>
              </a:rPr>
              <a:t>Sessions by Funnel Stage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A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9E8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Browse</c:v>
                  </c:pt>
                  <c:pt idx="1">
                    <c:v>Add to Cart</c:v>
                  </c:pt>
                  <c:pt idx="2">
                    <c:v>Checkout</c:v>
                  </c:pt>
                  <c:pt idx="3">
                    <c:v>Purchase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10000</c:v>
                </c:pt>
                <c:pt idx="1">
                  <c:v>6200</c:v>
                </c:pt>
                <c:pt idx="2">
                  <c:v>3800</c:v>
                </c:pt>
                <c:pt idx="3">
                  <c:v>1940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A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5F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0E8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5F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Georgia"/>
              </a:rPr>
              <a:t>Drop-Off Rate per Stage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Drop-Off Rate (%)</c:v>
                </c:pt>
              </c:strCache>
            </c:strRef>
          </c:tx>
          <c:spPr>
            <a:solidFill>
              <a:srgbClr val="E63946"/>
            </a:solidFill>
            <a:ln w="38100" cap="flat">
              <a:solidFill>
                <a:srgbClr val="E6394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63946"/>
              </a:solidFill>
              <a:ln w="9525" cap="flat">
                <a:solidFill>
                  <a:srgbClr val="E6394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Browse</c:v>
                  </c:pt>
                  <c:pt idx="1">
                    <c:v>Add to Cart</c:v>
                  </c:pt>
                  <c:pt idx="2">
                    <c:v>Checkout</c:v>
                  </c:pt>
                  <c:pt idx="3">
                    <c:v>Purchase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38</c:v>
                </c:pt>
                <c:pt idx="2">
                  <c:v>38.7</c:v>
                </c:pt>
                <c:pt idx="3">
                  <c:v>48.9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DAD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3D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DAD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2B3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A35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1E2A35"/>
                </a:solidFill>
                <a:latin typeface="Georgia"/>
              </a:rPr>
              <a:t>Conversion Rate by Acquisition Channel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 (%)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A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9E8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C5C7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Organic</c:v>
                  </c:pt>
                  <c:pt idx="1">
                    <c:v>Email</c:v>
                  </c:pt>
                  <c:pt idx="2">
                    <c:v>Paid Ads</c:v>
                  </c:pt>
                  <c:pt idx="3">
                    <c:v>Social</c:v>
                  </c:pt>
                  <c:pt idx="4">
                    <c:v>Direct</c:v>
                  </c:pt>
                  <c:pt idx="5">
                    <c:v>Referral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24.5</c:v>
                </c:pt>
                <c:pt idx="1">
                  <c:v>22.1</c:v>
                </c:pt>
                <c:pt idx="2">
                  <c:v>18.3</c:v>
                </c:pt>
                <c:pt idx="3">
                  <c:v>15.7</c:v>
                </c:pt>
                <c:pt idx="4">
                  <c:v>19.4</c:v>
                </c:pt>
                <c:pt idx="5">
                  <c:v>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A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5F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0E8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5F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Georgia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Georgia"/>
              </a:rPr>
              <a:t>Conversion Rate by Region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 (%)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9E8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North</c:v>
                  </c:pt>
                  <c:pt idx="1">
                    <c:v>South</c:v>
                  </c:pt>
                  <c:pt idx="2">
                    <c:v>East</c:v>
                  </c:pt>
                  <c:pt idx="3">
                    <c:v>West</c:v>
                  </c:pt>
                  <c:pt idx="4">
                    <c:v>Central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21.2</c:v>
                </c:pt>
                <c:pt idx="1">
                  <c:v>18.5</c:v>
                </c:pt>
                <c:pt idx="2">
                  <c:v>20.8</c:v>
                </c:pt>
                <c:pt idx="3">
                  <c:v>17.3</c:v>
                </c:pt>
                <c:pt idx="4">
                  <c:v>22.1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DAD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3D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DAD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2B3E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Georgia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Georgia"/>
              </a:rPr>
              <a:t>Total Revenue by Region ($K)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F7C59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7C59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76F5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1440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B222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North</c:v>
                  </c:pt>
                  <c:pt idx="1">
                    <c:v>South</c:v>
                  </c:pt>
                  <c:pt idx="2">
                    <c:v>East</c:v>
                  </c:pt>
                  <c:pt idx="3">
                    <c:v>West</c:v>
                  </c:pt>
                  <c:pt idx="4">
                    <c:v>Central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142</c:v>
                </c:pt>
                <c:pt idx="1">
                  <c:v>98</c:v>
                </c:pt>
                <c:pt idx="2">
                  <c:v>121</c:v>
                </c:pt>
                <c:pt idx="3">
                  <c:v>87</c:v>
                </c:pt>
                <c:pt idx="4">
                  <c:v>156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DAD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3D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DAD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2B3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D2B3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0"/>
            <a:ext cx="54864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6400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FUNNEL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11480" y="16002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411480" y="2697480"/>
            <a:ext cx="3657600" cy="36576"/>
          </a:xfrm>
          <a:prstGeom prst="rect">
            <a:avLst/>
          </a:prstGeom>
          <a:solidFill>
            <a:srgbClr val="64A0B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28346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Conversion Funnel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Drop-off Insights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8288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03520" y="2121408"/>
            <a:ext cx="45720" cy="274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5440680" y="21214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Sharma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03520" y="2487168"/>
            <a:ext cx="45720" cy="274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5440680" y="24871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Isha Bhati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03520" y="2852928"/>
            <a:ext cx="45720" cy="274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440680" y="28529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Mohit Verma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0" y="3218688"/>
            <a:ext cx="45720" cy="274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32186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Anupam Kumari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03520" y="3584448"/>
            <a:ext cx="45720" cy="274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5440680" y="35844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Sruti Pandey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4736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9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Semester II  ·  NIET, Greater Noida  ·  Oct 2025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03520" y="3931920"/>
            <a:ext cx="3566160" cy="457200"/>
          </a:xfrm>
          <a:prstGeom prst="roundRect">
            <a:avLst>
              <a:gd name="adj" fmla="val 24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03520" y="3931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Lab Project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03520" y="91440"/>
            <a:ext cx="310896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03520" y="914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669280" y="521208"/>
            <a:ext cx="237744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69280" y="5212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989320" y="950976"/>
            <a:ext cx="173736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89320" y="9509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309360" y="1380744"/>
            <a:ext cx="1097280" cy="347472"/>
          </a:xfrm>
          <a:prstGeom prst="rect">
            <a:avLst/>
          </a:prstGeom>
          <a:solidFill>
            <a:srgbClr val="F7C59F"/>
          </a:solidFill>
          <a:ln w="12700">
            <a:solidFill>
              <a:srgbClr val="F7C59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09360" y="138074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051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840480" cy="0"/>
          </a:xfrm>
          <a:prstGeom prst="line">
            <a:avLst/>
          </a:prstGeom>
          <a:noFill/>
          <a:ln w="6350">
            <a:solidFill>
              <a:srgbClr val="D0E8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1874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3840480" cy="0"/>
          </a:xfrm>
          <a:prstGeom prst="line">
            <a:avLst/>
          </a:prstGeom>
          <a:noFill/>
          <a:ln w="6350">
            <a:solidFill>
              <a:srgbClr val="D0E8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6517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2697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Cleaning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3840480" cy="0"/>
          </a:xfrm>
          <a:prstGeom prst="line">
            <a:avLst/>
          </a:prstGeom>
          <a:noFill/>
          <a:ln w="6350">
            <a:solidFill>
              <a:srgbClr val="D0E8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4747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3520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Stage Definition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069080"/>
            <a:ext cx="3840480" cy="0"/>
          </a:xfrm>
          <a:prstGeom prst="line">
            <a:avLst/>
          </a:prstGeom>
          <a:noFill/>
          <a:ln w="6350">
            <a:solidFill>
              <a:srgbClr val="D0E8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10058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69280" y="1051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Funnel Analysis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0" y="1600200"/>
            <a:ext cx="3657600" cy="0"/>
          </a:xfrm>
          <a:prstGeom prst="line">
            <a:avLst/>
          </a:prstGeom>
          <a:noFill/>
          <a:ln w="6350">
            <a:solidFill>
              <a:srgbClr val="D0E8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0" y="1828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669280" y="1874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Performance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29200" y="2423160"/>
            <a:ext cx="3657600" cy="0"/>
          </a:xfrm>
          <a:prstGeom prst="line">
            <a:avLst/>
          </a:prstGeom>
          <a:noFill/>
          <a:ln w="6350">
            <a:solidFill>
              <a:srgbClr val="D0E8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0" y="26517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669280" y="2697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Analysis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029200" y="3246120"/>
            <a:ext cx="3657600" cy="0"/>
          </a:xfrm>
          <a:prstGeom prst="line">
            <a:avLst/>
          </a:prstGeom>
          <a:noFill/>
          <a:ln w="6350">
            <a:solidFill>
              <a:srgbClr val="D0E8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0" y="34747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669280" y="3520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029200" y="4069080"/>
            <a:ext cx="3657600" cy="0"/>
          </a:xfrm>
          <a:prstGeom prst="line">
            <a:avLst/>
          </a:prstGeom>
          <a:noFill/>
          <a:ln w="6350">
            <a:solidFill>
              <a:srgbClr val="D0E8F5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64008" cy="34747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8686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Funnel Analysis?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Analysis tracks how users progress through a series of defined steps toward a goal — in this case, a purchase. It helps identify WHERE users drop off and WHY.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65760" y="2423160"/>
            <a:ext cx="64008" cy="34747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4231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conversion rates across each funnel stage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biggest drop-off points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performance by Marketing Channel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Regional conversion differences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actionable business recommendations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0" y="1005840"/>
            <a:ext cx="3200400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0" y="100584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 |  10,000  (100%)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20740" y="1965960"/>
            <a:ext cx="269748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20740" y="196596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  |   6,200  ( 62%)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2926080"/>
            <a:ext cx="2194560" cy="658368"/>
          </a:xfrm>
          <a:prstGeom prst="rect">
            <a:avLst/>
          </a:prstGeom>
          <a:solidFill>
            <a:srgbClr val="029E8A"/>
          </a:solidFill>
          <a:ln w="12700">
            <a:solidFill>
              <a:srgbClr val="029E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29260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 |   3,800  ( 38%)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23660" y="3886200"/>
            <a:ext cx="1691640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23660" y="388620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 |   1,940  ( 19%)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0" y="4709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9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Funnel Shape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560320" cy="12344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1440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21,663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15361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Event-level rows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868680"/>
            <a:ext cx="2560320" cy="123444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54680" y="91440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10,000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154680" y="15361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Users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Sessions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89320" y="868680"/>
            <a:ext cx="2560320" cy="123444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89320" y="91440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 Days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989320" y="15361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1–31, 2025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304288"/>
            <a:ext cx="64008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30428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Columns (10 Features)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697480"/>
          <a:ext cx="8503920" cy="2194560"/>
        </p:xfrm>
        <a:graphic>
          <a:graphicData uri="http://schemas.openxmlformats.org/drawingml/2006/table">
            <a:tbl>
              <a:tblPr/>
              <a:tblGrid>
                <a:gridCol w="2286000"/>
                <a:gridCol w="6217920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user identifier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session per visit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Funnel stage 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&amp; time of event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/ Desktop / Tablet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Geographic location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of product viewed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generated (Purchase)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Bounce_Flag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bounced? (0/1)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CLEANING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64008" cy="117043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9418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" y="960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 Conversion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34416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Timestamp column from string to datetime64 to enable time-based feature extraction.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194560"/>
            <a:ext cx="411480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94560"/>
            <a:ext cx="64008" cy="1170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22677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" y="2286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 Feature Extraction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" y="267004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Date, DayOfWeek, Hour, WeekNumber from Timestamp — enabling temporal pattern analysis.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520440"/>
            <a:ext cx="411480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520440"/>
            <a:ext cx="64008" cy="1170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" y="35935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" y="36118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Aggregation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" y="399592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events by Session_ID to create session-level summaries including session duration, revenue, and max funnel stage reached.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868680"/>
            <a:ext cx="411480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868680"/>
            <a:ext cx="64008" cy="1170432"/>
          </a:xfrm>
          <a:prstGeom prst="rect">
            <a:avLst/>
          </a:prstGeom>
          <a:solidFill>
            <a:srgbClr val="027566"/>
          </a:solidFill>
          <a:ln/>
        </p:spPr>
      </p:sp>
      <p:sp>
        <p:nvSpPr>
          <p:cNvPr id="21" name="Text 19"/>
          <p:cNvSpPr/>
          <p:nvPr/>
        </p:nvSpPr>
        <p:spPr>
          <a:xfrm>
            <a:off x="4919472" y="9418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19472" y="960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Null &amp; Duplicate Check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19472" y="134416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no missing values in critical columns. Checked for duplicate rows and unique value distributions.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194560"/>
            <a:ext cx="411480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194560"/>
            <a:ext cx="64008" cy="1170432"/>
          </a:xfrm>
          <a:prstGeom prst="rect">
            <a:avLst/>
          </a:prstGeom>
          <a:solidFill>
            <a:srgbClr val="1C5C7A"/>
          </a:solidFill>
          <a:ln/>
        </p:spPr>
      </p:sp>
      <p:sp>
        <p:nvSpPr>
          <p:cNvPr id="26" name="Text 24"/>
          <p:cNvSpPr/>
          <p:nvPr/>
        </p:nvSpPr>
        <p:spPr>
          <a:xfrm>
            <a:off x="4919472" y="22677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19472" y="2286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 Sequence Numbering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19472" y="267004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Event_Sequence column via cumcount() per session for ordered event analysis.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520440"/>
            <a:ext cx="411480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520440"/>
            <a:ext cx="64008" cy="1170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4919472" y="35935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19472" y="36118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Max Funnel Stage Logic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19472" y="399592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function get_max_funnel_stage() maps each session to its deepest stage (Browse → Add to Cart → Checkout → Purchase).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STAGE DEFINITION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920240" cy="3749040"/>
          </a:xfrm>
          <a:prstGeom prst="rect">
            <a:avLst/>
          </a:prstGeom>
          <a:solidFill>
            <a:srgbClr val="0D2B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192024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869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74320" y="2240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DA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724912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lands on the website and views products. This is the entry point — all 10,000 sessions start here.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94560" y="2377440"/>
            <a:ext cx="256032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0592" y="868680"/>
            <a:ext cx="1920240" cy="3749040"/>
          </a:xfrm>
          <a:prstGeom prst="rect">
            <a:avLst/>
          </a:prstGeom>
          <a:solidFill>
            <a:srgbClr val="0D2B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868680"/>
            <a:ext cx="192024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2450592" y="8869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50592" y="1463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🛒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450592" y="2240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DA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TO CART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42032" y="2724912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shows purchase intent by adding one or more items to their shopping cart.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70832" y="2377440"/>
            <a:ext cx="256032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26864" y="868680"/>
            <a:ext cx="1920240" cy="3749040"/>
          </a:xfrm>
          <a:prstGeom prst="rect">
            <a:avLst/>
          </a:prstGeom>
          <a:solidFill>
            <a:srgbClr val="0D2B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26864" y="868680"/>
            <a:ext cx="1920240" cy="502920"/>
          </a:xfrm>
          <a:prstGeom prst="rect">
            <a:avLst/>
          </a:prstGeom>
          <a:solidFill>
            <a:srgbClr val="029E8A"/>
          </a:solidFill>
          <a:ln/>
        </p:spPr>
      </p:sp>
      <p:sp>
        <p:nvSpPr>
          <p:cNvPr id="20" name="Text 18"/>
          <p:cNvSpPr/>
          <p:nvPr/>
        </p:nvSpPr>
        <p:spPr>
          <a:xfrm>
            <a:off x="4626864" y="8869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26864" y="1463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💳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626864" y="2240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DA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CHECKOUT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18304" y="2724912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initiates the checkout process — enters shipping details, selects payment method.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47104" y="2377440"/>
            <a:ext cx="256032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03136" y="868680"/>
            <a:ext cx="1920240" cy="3749040"/>
          </a:xfrm>
          <a:prstGeom prst="rect">
            <a:avLst/>
          </a:prstGeom>
          <a:solidFill>
            <a:srgbClr val="0D2B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03136" y="868680"/>
            <a:ext cx="1920240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6803136" y="8869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03136" y="1463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✅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803136" y="2240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PURCHASE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94576" y="2724912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is completed. Revenue is recorded. This is the final conversion goal.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" y="475488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9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session is classified to its DEEPEST reached stage using a custom aggregation function.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FUNNEL ANALYSIS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2296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822960"/>
            <a:ext cx="64008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3"/>
          <p:cNvSpPr/>
          <p:nvPr/>
        </p:nvSpPr>
        <p:spPr>
          <a:xfrm>
            <a:off x="5925312" y="8229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Stage-to-Stage Conversion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760720" y="1234440"/>
            <a:ext cx="31089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760720" y="1234440"/>
            <a:ext cx="54864" cy="7498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5870448" y="12710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62.0%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870448" y="16367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→ Add to Cart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040880" y="128930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FA9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3,800 dropped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760720" y="2148840"/>
            <a:ext cx="31089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60720" y="2148840"/>
            <a:ext cx="54864" cy="7498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1"/>
          <p:cNvSpPr/>
          <p:nvPr/>
        </p:nvSpPr>
        <p:spPr>
          <a:xfrm>
            <a:off x="5870448" y="21854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61.3%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870448" y="25511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 → Checkout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040880" y="220370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FA9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2,400 dropped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760720" y="3063240"/>
            <a:ext cx="31089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760720" y="3063240"/>
            <a:ext cx="54864" cy="7498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6"/>
          <p:cNvSpPr/>
          <p:nvPr/>
        </p:nvSpPr>
        <p:spPr>
          <a:xfrm>
            <a:off x="5870448" y="30998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51.1%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870448" y="34655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→ Purchase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040880" y="311810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FA9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1,860 dropped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760720" y="3977640"/>
            <a:ext cx="310896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760720" y="3977640"/>
            <a:ext cx="54864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4" name="Text 21"/>
          <p:cNvSpPr/>
          <p:nvPr/>
        </p:nvSpPr>
        <p:spPr>
          <a:xfrm>
            <a:off x="5870448" y="40142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19.4%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870448" y="43799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Conversion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040880" y="403250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FA9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→ Purchase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&amp; DROP-OFF ANALYSIS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23560" y="822960"/>
            <a:ext cx="64008" cy="34747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3"/>
          <p:cNvSpPr/>
          <p:nvPr/>
        </p:nvSpPr>
        <p:spPr>
          <a:xfrm>
            <a:off x="5760720" y="8229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Drop-off Insights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623560" y="1280160"/>
            <a:ext cx="3246120" cy="1078992"/>
          </a:xfrm>
          <a:prstGeom prst="rect">
            <a:avLst/>
          </a:prstGeom>
          <a:solidFill>
            <a:srgbClr val="0D2B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69280" y="13258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172200" y="133502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Biggest Drop: Checkout → Purchase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687568" y="173736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~49% of users who reach Checkout abandon before completing payment. This is the critical leakage point.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623560" y="2514600"/>
            <a:ext cx="3246120" cy="1078992"/>
          </a:xfrm>
          <a:prstGeom prst="rect">
            <a:avLst/>
          </a:prstGeom>
          <a:solidFill>
            <a:srgbClr val="0D2B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669280" y="2560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172200" y="256946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Cart Abandonment is Significant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687568" y="297180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of browsers never add a product. Likely due to price sensitivity or poor product discovery.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623560" y="3749040"/>
            <a:ext cx="3246120" cy="1078992"/>
          </a:xfrm>
          <a:prstGeom prst="rect">
            <a:avLst/>
          </a:prstGeom>
          <a:solidFill>
            <a:srgbClr val="0D2B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669280" y="37947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172200" y="380390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Checkout Friction is High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687568" y="420624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intent enough to checkout still drop — suggesting payment UX issues or trust barriers.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7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Conversion Rate: 19.4%  |  8,060 out of 10,000 sessions did NOT convert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PERFORMANCE ANALYSIS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54864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89320" y="822960"/>
            <a:ext cx="64008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3"/>
          <p:cNvSpPr/>
          <p:nvPr/>
        </p:nvSpPr>
        <p:spPr>
          <a:xfrm>
            <a:off x="6153912" y="8229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 Insights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989320" y="1234440"/>
            <a:ext cx="28346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89320" y="1234440"/>
            <a:ext cx="54864" cy="777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6108192" y="128930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🥇 Best: Organic Search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108192" y="165506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intent — users already looking to buy. 24.5% conversion.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89320" y="2148840"/>
            <a:ext cx="28346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89320" y="2148840"/>
            <a:ext cx="54864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6108192" y="220370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📧 Email Marketing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08192" y="256946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22.1% rate — good for re-engagement &amp; repeat buyers.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989320" y="3063240"/>
            <a:ext cx="28346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89320" y="3063240"/>
            <a:ext cx="54864" cy="7772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7" name="Text 14"/>
          <p:cNvSpPr/>
          <p:nvPr/>
        </p:nvSpPr>
        <p:spPr>
          <a:xfrm>
            <a:off x="6108192" y="311810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📱 Social Media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108192" y="348386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at 15.7% — high traffic, low intent. Top-of-funnel.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989320" y="3977640"/>
            <a:ext cx="28346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989320" y="3977640"/>
            <a:ext cx="54864" cy="7772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1" name="Text 18"/>
          <p:cNvSpPr/>
          <p:nvPr/>
        </p:nvSpPr>
        <p:spPr>
          <a:xfrm>
            <a:off x="6108192" y="403250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💰 AOV: Paid Ads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108192" y="439826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ads drive highest Average Order Value despite moderate CVR.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PERFORMANCE ANALYSIS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777240"/>
          <a:ext cx="42062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777240"/>
          <a:ext cx="42062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274320" y="455371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region leads in both conversion rate (22.1%) and total revenue ($156K). West region underperforms — requires targeted re-engagement strategy.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1920240" cy="118872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686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19.4%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4813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0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Conversion Rate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68880" y="822960"/>
            <a:ext cx="1920240" cy="1188720"/>
          </a:xfrm>
          <a:prstGeom prst="rect">
            <a:avLst/>
          </a:prstGeom>
          <a:solidFill>
            <a:srgbClr val="E6394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8686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48.9%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14813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0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Abandonment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1920240" cy="11887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8686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24.5%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17720" y="14813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0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Channel (Organic)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66560" y="822960"/>
            <a:ext cx="1920240" cy="118872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8686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22.1%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66560" y="14813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0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Region (Central)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194560"/>
            <a:ext cx="64008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1945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of Findings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" y="2633472"/>
            <a:ext cx="82296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of users add items to cart — but only 19.4% complete a purchase, showing high mid-funnel leakage.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→ Purchase is the CRITICAL drop-off (49%). Payment friction, trust, or UI issues are likely causes.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Search and Email Marketing are the most efficient channels with conversion rates above 22%.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drives volume but low conversion — it serves as top-of-funnel awareness, not conversion.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Region consistently outperforms all other regions in both conversion rate and revenue generated.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duration increases as users move deeper into the funnel — indicating genuine purchase intent.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69080" cy="1234440"/>
          </a:xfrm>
          <a:prstGeom prst="rect">
            <a:avLst/>
          </a:prstGeom>
          <a:solidFill>
            <a:srgbClr val="0D2B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64008" cy="12344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8961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8961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Checkout UX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66160" y="914400"/>
            <a:ext cx="640080" cy="228600"/>
          </a:xfrm>
          <a:prstGeom prst="roundRect">
            <a:avLst>
              <a:gd name="adj" fmla="val 48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9144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134416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payment steps, add trust badges (SSL, reviews), offer guest checkout to reduce abandonment.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212848"/>
            <a:ext cx="4069080" cy="1234440"/>
          </a:xfrm>
          <a:prstGeom prst="rect">
            <a:avLst/>
          </a:prstGeom>
          <a:solidFill>
            <a:srgbClr val="0D2B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212848"/>
            <a:ext cx="64008" cy="12344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" y="22860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22860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Cart Recovery Campaigns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66160" y="2304288"/>
            <a:ext cx="640080" cy="228600"/>
          </a:xfrm>
          <a:prstGeom prst="roundRect">
            <a:avLst>
              <a:gd name="adj" fmla="val 48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66160" y="23042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912" y="273405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automated email/SMS reminders for cart abandoners within 1–24 hours.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602736"/>
            <a:ext cx="4069080" cy="1234440"/>
          </a:xfrm>
          <a:prstGeom prst="rect">
            <a:avLst/>
          </a:prstGeom>
          <a:solidFill>
            <a:srgbClr val="0D2B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602736"/>
            <a:ext cx="64008" cy="1234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" y="36758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14400" y="36758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 in Organic SEO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566160" y="3694176"/>
            <a:ext cx="640080" cy="228600"/>
          </a:xfrm>
          <a:prstGeom prst="roundRect">
            <a:avLst>
              <a:gd name="adj" fmla="val 48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566160" y="369417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" y="412394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organic search since it has the highest conversion rate (24.5%) with the lowest cost per acquisition.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822960"/>
            <a:ext cx="4069080" cy="1234440"/>
          </a:xfrm>
          <a:prstGeom prst="rect">
            <a:avLst/>
          </a:prstGeom>
          <a:solidFill>
            <a:srgbClr val="0D2B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822960"/>
            <a:ext cx="64008" cy="1234440"/>
          </a:xfrm>
          <a:prstGeom prst="rect">
            <a:avLst/>
          </a:prstGeom>
          <a:solidFill>
            <a:srgbClr val="A8DADC"/>
          </a:solidFill>
          <a:ln/>
        </p:spPr>
      </p:sp>
      <p:sp>
        <p:nvSpPr>
          <p:cNvPr id="27" name="Text 25"/>
          <p:cNvSpPr/>
          <p:nvPr/>
        </p:nvSpPr>
        <p:spPr>
          <a:xfrm>
            <a:off x="4919472" y="8961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94960" y="8961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DA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Re-qualify Social Traffic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46720" y="914400"/>
            <a:ext cx="640080" cy="228600"/>
          </a:xfrm>
          <a:prstGeom prst="roundRect">
            <a:avLst>
              <a:gd name="adj" fmla="val 48000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046720" y="9144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19472" y="134416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retargeting ads for social visitors — move them from awareness to consideration funnel stages.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2212848"/>
            <a:ext cx="4069080" cy="1234440"/>
          </a:xfrm>
          <a:prstGeom prst="rect">
            <a:avLst/>
          </a:prstGeom>
          <a:solidFill>
            <a:srgbClr val="0D2B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2212848"/>
            <a:ext cx="64008" cy="1234440"/>
          </a:xfrm>
          <a:prstGeom prst="rect">
            <a:avLst/>
          </a:prstGeom>
          <a:solidFill>
            <a:srgbClr val="64A0B8"/>
          </a:solidFill>
          <a:ln/>
        </p:spPr>
      </p:sp>
      <p:sp>
        <p:nvSpPr>
          <p:cNvPr id="34" name="Text 32"/>
          <p:cNvSpPr/>
          <p:nvPr/>
        </p:nvSpPr>
        <p:spPr>
          <a:xfrm>
            <a:off x="4919472" y="22860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394960" y="22860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A0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West Region Campaign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046720" y="2304288"/>
            <a:ext cx="640080" cy="228600"/>
          </a:xfrm>
          <a:prstGeom prst="roundRect">
            <a:avLst>
              <a:gd name="adj" fmla="val 48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046720" y="23042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19472" y="273405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targeted promotions in West region which underperforms in both conversion and revenue.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3602736"/>
            <a:ext cx="4069080" cy="1234440"/>
          </a:xfrm>
          <a:prstGeom prst="rect">
            <a:avLst/>
          </a:prstGeom>
          <a:solidFill>
            <a:srgbClr val="0D2B3E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602736"/>
            <a:ext cx="64008" cy="1234440"/>
          </a:xfrm>
          <a:prstGeom prst="rect">
            <a:avLst/>
          </a:prstGeom>
          <a:solidFill>
            <a:srgbClr val="A0C4FF"/>
          </a:solidFill>
          <a:ln/>
        </p:spPr>
      </p:sp>
      <p:sp>
        <p:nvSpPr>
          <p:cNvPr id="41" name="Text 39"/>
          <p:cNvSpPr/>
          <p:nvPr/>
        </p:nvSpPr>
        <p:spPr>
          <a:xfrm>
            <a:off x="4919472" y="36758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5394960" y="36758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C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Duration Tracking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046720" y="3694176"/>
            <a:ext cx="640080" cy="228600"/>
          </a:xfrm>
          <a:prstGeom prst="roundRect">
            <a:avLst>
              <a:gd name="adj" fmla="val 48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046720" y="369417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919472" y="412394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time-on-site per stage — long Browse sessions that don't convert signal discovery friction.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2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2011680"/>
          </a:xfrm>
          <a:prstGeom prst="rect">
            <a:avLst/>
          </a:prstGeom>
          <a:solidFill>
            <a:srgbClr val="0D2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0"/>
            <a:ext cx="109728" cy="20116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9034272" y="1645920"/>
            <a:ext cx="109728" cy="20116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17373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0" y="2743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for Questions &amp; Discussion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114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 </a:t>
            </a:r>
            <a:pPr algn="ctr" indent="0" marL="0">
              <a:buNone/>
            </a:pPr>
            <a:r>
              <a:rPr lang="en-US" sz="1300" dirty="0">
                <a:solidFill>
                  <a:srgbClr val="64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MCA Sem II  |  NIET, Greater Noida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9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Analysis  ·  E-Commerce Conversion Study  ·  October 2025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0" y="137160"/>
            <a:ext cx="2286000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0" y="530352"/>
            <a:ext cx="173736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321040" y="923544"/>
            <a:ext cx="118872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595360" y="1316736"/>
            <a:ext cx="640080" cy="320040"/>
          </a:xfrm>
          <a:prstGeom prst="rect">
            <a:avLst/>
          </a:prstGeom>
          <a:solidFill>
            <a:srgbClr val="F7C59F"/>
          </a:solidFill>
          <a:ln w="12700">
            <a:solidFill>
              <a:srgbClr val="F7C59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Funnel Analysis</dc:title>
  <dc:subject>PptxGenJS Presentation</dc:subject>
  <dc:creator>Aman</dc:creator>
  <cp:lastModifiedBy>Aman</cp:lastModifiedBy>
  <cp:revision>1</cp:revision>
  <dcterms:created xsi:type="dcterms:W3CDTF">2026-04-12T16:58:13Z</dcterms:created>
  <dcterms:modified xsi:type="dcterms:W3CDTF">2026-04-12T16:58:13Z</dcterms:modified>
</cp:coreProperties>
</file>